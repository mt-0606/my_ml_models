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Old Standard TT" panose="020B0604020202020204" charset="0"/>
      <p:regular r:id="rId13"/>
      <p:bold r:id="rId14"/>
      <p: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E317BE-1051-45DA-AFEA-6506F113A588}">
  <a:tblStyle styleId="{FBE317BE-1051-45DA-AFEA-6506F113A58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f65ce331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f65ce331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f64c3c245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f64c3c245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f65ce331c9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f65ce331c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98678909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98678909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65ce331c9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f65ce331c9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f65ce331c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f65ce331c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f65ce331c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f65ce331c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65ce331c9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65ce331c9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65ce331c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65ce331c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0"/>
              </a:spcBef>
              <a:spcAft>
                <a:spcPts val="0"/>
              </a:spcAft>
              <a:buClr>
                <a:schemeClr val="accent1"/>
              </a:buClr>
              <a:buSzPts val="1400"/>
              <a:buChar char="○"/>
              <a:defRPr>
                <a:solidFill>
                  <a:schemeClr val="accent1"/>
                </a:solidFill>
              </a:defRPr>
            </a:lvl2pPr>
            <a:lvl3pPr marL="1371600" lvl="2" indent="-317500">
              <a:spcBef>
                <a:spcPts val="0"/>
              </a:spcBef>
              <a:spcAft>
                <a:spcPts val="0"/>
              </a:spcAft>
              <a:buClr>
                <a:schemeClr val="accent1"/>
              </a:buClr>
              <a:buSzPts val="1400"/>
              <a:buChar char="■"/>
              <a:defRPr>
                <a:solidFill>
                  <a:schemeClr val="accent1"/>
                </a:solidFill>
              </a:defRPr>
            </a:lvl3pPr>
            <a:lvl4pPr marL="1828800" lvl="3" indent="-317500">
              <a:spcBef>
                <a:spcPts val="0"/>
              </a:spcBef>
              <a:spcAft>
                <a:spcPts val="0"/>
              </a:spcAft>
              <a:buClr>
                <a:schemeClr val="accent1"/>
              </a:buClr>
              <a:buSzPts val="1400"/>
              <a:buChar char="●"/>
              <a:defRPr>
                <a:solidFill>
                  <a:schemeClr val="accent1"/>
                </a:solidFill>
              </a:defRPr>
            </a:lvl4pPr>
            <a:lvl5pPr marL="2286000" lvl="4" indent="-317500">
              <a:spcBef>
                <a:spcPts val="0"/>
              </a:spcBef>
              <a:spcAft>
                <a:spcPts val="0"/>
              </a:spcAft>
              <a:buClr>
                <a:schemeClr val="accent1"/>
              </a:buClr>
              <a:buSzPts val="1400"/>
              <a:buChar char="○"/>
              <a:defRPr>
                <a:solidFill>
                  <a:schemeClr val="accent1"/>
                </a:solidFill>
              </a:defRPr>
            </a:lvl5pPr>
            <a:lvl6pPr marL="2743200" lvl="5" indent="-317500">
              <a:spcBef>
                <a:spcPts val="0"/>
              </a:spcBef>
              <a:spcAft>
                <a:spcPts val="0"/>
              </a:spcAft>
              <a:buClr>
                <a:schemeClr val="accent1"/>
              </a:buClr>
              <a:buSzPts val="1400"/>
              <a:buChar char="■"/>
              <a:defRPr>
                <a:solidFill>
                  <a:schemeClr val="accent1"/>
                </a:solidFill>
              </a:defRPr>
            </a:lvl6pPr>
            <a:lvl7pPr marL="3200400" lvl="6" indent="-317500">
              <a:spcBef>
                <a:spcPts val="0"/>
              </a:spcBef>
              <a:spcAft>
                <a:spcPts val="0"/>
              </a:spcAft>
              <a:buClr>
                <a:schemeClr val="accent1"/>
              </a:buClr>
              <a:buSzPts val="1400"/>
              <a:buChar char="●"/>
              <a:defRPr>
                <a:solidFill>
                  <a:schemeClr val="accent1"/>
                </a:solidFill>
              </a:defRPr>
            </a:lvl7pPr>
            <a:lvl8pPr marL="3657600" lvl="7" indent="-317500">
              <a:spcBef>
                <a:spcPts val="0"/>
              </a:spcBef>
              <a:spcAft>
                <a:spcPts val="0"/>
              </a:spcAft>
              <a:buClr>
                <a:schemeClr val="accent1"/>
              </a:buClr>
              <a:buSzPts val="1400"/>
              <a:buChar char="○"/>
              <a:defRPr>
                <a:solidFill>
                  <a:schemeClr val="accent1"/>
                </a:solidFill>
              </a:defRPr>
            </a:lvl8pPr>
            <a:lvl9pPr marL="4114800" lvl="8" indent="-317500">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DATE-A-SCIENTIST</a:t>
            </a:r>
            <a:endParaRPr/>
          </a:p>
        </p:txBody>
      </p:sp>
      <p:sp>
        <p:nvSpPr>
          <p:cNvPr id="60" name="Google Shape;60;p13"/>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GB"/>
              <a:t>An OKCupid Multiclass Classification Project by Michael Tariku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PROBLEM STATEMENT</a:t>
            </a:r>
            <a:endParaRPr/>
          </a:p>
        </p:txBody>
      </p:sp>
      <p:sp>
        <p:nvSpPr>
          <p:cNvPr id="66" name="Google Shape;66;p1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a:t>Question:</a:t>
            </a:r>
            <a:r>
              <a:rPr lang="en-GB"/>
              <a:t> How well can a user’s health- and lifestyle-related attributes (e.g. body type, diet, drinking/smoking habits) predict their status on OKCupid?</a:t>
            </a:r>
            <a:endParaRPr/>
          </a:p>
          <a:p>
            <a:pPr marL="0" lvl="0" indent="0" algn="l" rtl="0">
              <a:spcBef>
                <a:spcPts val="1200"/>
              </a:spcBef>
              <a:spcAft>
                <a:spcPts val="1200"/>
              </a:spcAft>
              <a:buNone/>
            </a:pPr>
            <a:r>
              <a:rPr lang="en-GB" b="1"/>
              <a:t>Rationale:</a:t>
            </a:r>
            <a:r>
              <a:rPr lang="en-GB"/>
              <a:t> Dating apps like OKCupid almost always stress sex appeal, which can be accentuated or diminished by physical appearance and lifestyle habits. I saw no reason that these aspects could not feasibly predict or explain relationship status.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CHOSEN ATTRIBUTES</a:t>
            </a:r>
            <a:endParaRPr/>
          </a:p>
        </p:txBody>
      </p:sp>
      <p:sp>
        <p:nvSpPr>
          <p:cNvPr id="72" name="Google Shape;72;p15"/>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000"/>
              <a:t>These following variables were selected to test whether health contains a strong enough predictive signal about relationship status:</a:t>
            </a:r>
            <a:endParaRPr sz="2000"/>
          </a:p>
          <a:p>
            <a:pPr marL="457200" lvl="0" indent="-355600" algn="l" rtl="0">
              <a:spcBef>
                <a:spcPts val="1200"/>
              </a:spcBef>
              <a:spcAft>
                <a:spcPts val="0"/>
              </a:spcAft>
              <a:buSzPts val="2000"/>
              <a:buChar char="●"/>
            </a:pPr>
            <a:r>
              <a:rPr lang="en-GB" sz="2000" b="1"/>
              <a:t>body_type:</a:t>
            </a:r>
            <a:r>
              <a:rPr lang="en-GB" sz="2000"/>
              <a:t> self-reported physical description (e.g. jacked, curvy, used-up)</a:t>
            </a:r>
            <a:endParaRPr sz="2000"/>
          </a:p>
          <a:p>
            <a:pPr marL="457200" lvl="0" indent="-355600" algn="l" rtl="0">
              <a:spcBef>
                <a:spcPts val="0"/>
              </a:spcBef>
              <a:spcAft>
                <a:spcPts val="0"/>
              </a:spcAft>
              <a:buSzPts val="2000"/>
              <a:buChar char="●"/>
            </a:pPr>
            <a:r>
              <a:rPr lang="en-GB" sz="2000" b="1"/>
              <a:t>diet:</a:t>
            </a:r>
            <a:r>
              <a:rPr lang="en-GB" sz="2000"/>
              <a:t> stated dietary preference (e.g. halal, kosher, vegan)</a:t>
            </a:r>
            <a:endParaRPr sz="2000"/>
          </a:p>
          <a:p>
            <a:pPr marL="457200" lvl="0" indent="-355600" algn="l" rtl="0">
              <a:spcBef>
                <a:spcPts val="0"/>
              </a:spcBef>
              <a:spcAft>
                <a:spcPts val="0"/>
              </a:spcAft>
              <a:buSzPts val="2000"/>
              <a:buChar char="●"/>
            </a:pPr>
            <a:r>
              <a:rPr lang="en-GB" sz="2000" b="1"/>
              <a:t>drinks, drugs, smokes: </a:t>
            </a:r>
            <a:r>
              <a:rPr lang="en-GB" sz="2000"/>
              <a:t>self-reported adverse lifestyle behaviours</a:t>
            </a:r>
            <a:endParaRPr sz="2000"/>
          </a:p>
          <a:p>
            <a:pPr marL="0" lvl="0" indent="0" algn="l" rtl="0">
              <a:spcBef>
                <a:spcPts val="1200"/>
              </a:spcBef>
              <a:spcAft>
                <a:spcPts val="1200"/>
              </a:spcAft>
              <a:buNone/>
            </a:pPr>
            <a:r>
              <a:rPr lang="en-GB" sz="2000"/>
              <a:t>A person’s status can be one of four things -- single, available, seeing someone, or married.</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EXPLORATORY DATA ANALYSIS</a:t>
            </a:r>
            <a:endParaRPr/>
          </a:p>
        </p:txBody>
      </p:sp>
      <p:sp>
        <p:nvSpPr>
          <p:cNvPr id="78" name="Google Shape;78;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The chart below offers little evidence that body type alone provides a strong predictive signal. In fact, approximately 93% of the test profiles are single. This means that the target distribution within the chosen features’ categories is skewed.</a:t>
            </a:r>
            <a:endParaRPr/>
          </a:p>
        </p:txBody>
      </p:sp>
      <p:pic>
        <p:nvPicPr>
          <p:cNvPr id="79" name="Google Shape;79;p16" title="Body Type Impact on Status.jpg"/>
          <p:cNvPicPr preferRelativeResize="0"/>
          <p:nvPr/>
        </p:nvPicPr>
        <p:blipFill>
          <a:blip r:embed="rId3">
            <a:alphaModFix/>
          </a:blip>
          <a:stretch>
            <a:fillRect/>
          </a:stretch>
        </p:blipFill>
        <p:spPr>
          <a:xfrm>
            <a:off x="1776499" y="2197000"/>
            <a:ext cx="5591000" cy="2371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PREPROCESSING</a:t>
            </a:r>
            <a:endParaRPr/>
          </a:p>
        </p:txBody>
      </p:sp>
      <p:sp>
        <p:nvSpPr>
          <p:cNvPr id="85" name="Google Shape;85;p1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b="1"/>
              <a:t>Missing values:</a:t>
            </a:r>
            <a:r>
              <a:rPr lang="en-GB"/>
              <a:t> retained as a separate ‘did not answer’ category instead of discarding incomplete profiles</a:t>
            </a:r>
            <a:endParaRPr/>
          </a:p>
          <a:p>
            <a:pPr marL="457200" lvl="0" indent="-342900" algn="l" rtl="0">
              <a:spcBef>
                <a:spcPts val="0"/>
              </a:spcBef>
              <a:spcAft>
                <a:spcPts val="0"/>
              </a:spcAft>
              <a:buSzPts val="1800"/>
              <a:buChar char="●"/>
            </a:pPr>
            <a:r>
              <a:rPr lang="en-GB" b="1"/>
              <a:t>Training-testing split:</a:t>
            </a:r>
            <a:r>
              <a:rPr lang="en-GB"/>
              <a:t> 80% of the health dataset went into the training set and 20% into the testing set; stratification preserved the four-class status distribution in both sets</a:t>
            </a:r>
            <a:endParaRPr/>
          </a:p>
          <a:p>
            <a:pPr marL="457200" lvl="0" indent="-342900" algn="l" rtl="0">
              <a:spcBef>
                <a:spcPts val="0"/>
              </a:spcBef>
              <a:spcAft>
                <a:spcPts val="0"/>
              </a:spcAft>
              <a:buSzPts val="1800"/>
              <a:buChar char="●"/>
            </a:pPr>
            <a:r>
              <a:rPr lang="en-GB" b="1"/>
              <a:t>Categorical encoding:</a:t>
            </a:r>
            <a:r>
              <a:rPr lang="en-GB"/>
              <a:t> all predictors in the training set were converted into binary columns using one-hot encoding, then applied to the testing data </a:t>
            </a:r>
            <a:endParaRPr/>
          </a:p>
          <a:p>
            <a:pPr marL="457200" lvl="0" indent="-342900" algn="l" rtl="0">
              <a:spcBef>
                <a:spcPts val="0"/>
              </a:spcBef>
              <a:spcAft>
                <a:spcPts val="0"/>
              </a:spcAft>
              <a:buSzPts val="1800"/>
              <a:buChar char="●"/>
            </a:pPr>
            <a:r>
              <a:rPr lang="en-GB" b="1"/>
              <a:t>Model construction: </a:t>
            </a:r>
            <a:r>
              <a:rPr lang="en-GB"/>
              <a:t>stratified five-fold cross-validation was used to give minority classes more of an influence on training; balanced accuracy was the primary selection metric</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MAJORITY-CLASS (OR BASELINE) CLASSIFIER</a:t>
            </a:r>
            <a:endParaRPr/>
          </a:p>
        </p:txBody>
      </p:sp>
      <p:sp>
        <p:nvSpPr>
          <p:cNvPr id="91" name="Google Shape;91;p18"/>
          <p:cNvSpPr txBox="1">
            <a:spLocks noGrp="1"/>
          </p:cNvSpPr>
          <p:nvPr>
            <p:ph type="body" idx="1"/>
          </p:nvPr>
        </p:nvSpPr>
        <p:spPr>
          <a:xfrm>
            <a:off x="311700" y="1217150"/>
            <a:ext cx="2013600" cy="2267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GB" sz="1400" b="1"/>
              <a:t>Takeaway:</a:t>
            </a:r>
            <a:r>
              <a:rPr lang="en-GB" sz="1400"/>
              <a:t> Just because a model has high accuracy does not mean it can predict status. All it means is that the most prominent class is the most likely to be predicted.</a:t>
            </a:r>
            <a:endParaRPr sz="1400"/>
          </a:p>
        </p:txBody>
      </p:sp>
      <p:pic>
        <p:nvPicPr>
          <p:cNvPr id="92" name="Google Shape;92;p18" title="Screenshot 2026-08-04 142859.png"/>
          <p:cNvPicPr preferRelativeResize="0"/>
          <p:nvPr/>
        </p:nvPicPr>
        <p:blipFill>
          <a:blip r:embed="rId3">
            <a:alphaModFix/>
          </a:blip>
          <a:stretch>
            <a:fillRect/>
          </a:stretch>
        </p:blipFill>
        <p:spPr>
          <a:xfrm>
            <a:off x="2325434" y="1017725"/>
            <a:ext cx="4493143" cy="3610376"/>
          </a:xfrm>
          <a:prstGeom prst="rect">
            <a:avLst/>
          </a:prstGeom>
          <a:noFill/>
          <a:ln>
            <a:noFill/>
          </a:ln>
        </p:spPr>
      </p:pic>
      <p:cxnSp>
        <p:nvCxnSpPr>
          <p:cNvPr id="93" name="Google Shape;93;p18"/>
          <p:cNvCxnSpPr>
            <a:stCxn id="94" idx="1"/>
          </p:cNvCxnSpPr>
          <p:nvPr/>
        </p:nvCxnSpPr>
        <p:spPr>
          <a:xfrm rot="10800000">
            <a:off x="5671200" y="3484400"/>
            <a:ext cx="1238100" cy="1073700"/>
          </a:xfrm>
          <a:prstGeom prst="straightConnector1">
            <a:avLst/>
          </a:prstGeom>
          <a:noFill/>
          <a:ln w="9525" cap="flat" cmpd="sng">
            <a:solidFill>
              <a:schemeClr val="dk2"/>
            </a:solidFill>
            <a:prstDash val="solid"/>
            <a:round/>
            <a:headEnd type="none" w="med" len="med"/>
            <a:tailEnd type="triangle" w="med" len="med"/>
          </a:ln>
        </p:spPr>
      </p:cxnSp>
      <p:sp>
        <p:nvSpPr>
          <p:cNvPr id="94" name="Google Shape;94;p18"/>
          <p:cNvSpPr txBox="1">
            <a:spLocks noGrp="1"/>
          </p:cNvSpPr>
          <p:nvPr>
            <p:ph type="body" idx="1"/>
          </p:nvPr>
        </p:nvSpPr>
        <p:spPr>
          <a:xfrm>
            <a:off x="6909300" y="4300400"/>
            <a:ext cx="2234700" cy="515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440"/>
              <a:buNone/>
            </a:pPr>
            <a:r>
              <a:rPr lang="en-GB" sz="1400"/>
              <a:t>Every profile is predicted as ‘single’</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MODEL RESULTS</a:t>
            </a:r>
            <a:endParaRPr/>
          </a:p>
        </p:txBody>
      </p:sp>
      <p:graphicFrame>
        <p:nvGraphicFramePr>
          <p:cNvPr id="100" name="Google Shape;100;p19"/>
          <p:cNvGraphicFramePr/>
          <p:nvPr/>
        </p:nvGraphicFramePr>
        <p:xfrm>
          <a:off x="621950" y="1017725"/>
          <a:ext cx="7771925" cy="3078360"/>
        </p:xfrm>
        <a:graphic>
          <a:graphicData uri="http://schemas.openxmlformats.org/drawingml/2006/table">
            <a:tbl>
              <a:tblPr>
                <a:noFill/>
                <a:tableStyleId>{FBE317BE-1051-45DA-AFEA-6506F113A588}</a:tableStyleId>
              </a:tblPr>
              <a:tblGrid>
                <a:gridCol w="1585975">
                  <a:extLst>
                    <a:ext uri="{9D8B030D-6E8A-4147-A177-3AD203B41FA5}">
                      <a16:colId xmlns:a16="http://schemas.microsoft.com/office/drawing/2014/main" val="20000"/>
                    </a:ext>
                  </a:extLst>
                </a:gridCol>
                <a:gridCol w="1604650">
                  <a:extLst>
                    <a:ext uri="{9D8B030D-6E8A-4147-A177-3AD203B41FA5}">
                      <a16:colId xmlns:a16="http://schemas.microsoft.com/office/drawing/2014/main" val="20001"/>
                    </a:ext>
                  </a:extLst>
                </a:gridCol>
                <a:gridCol w="1313000">
                  <a:extLst>
                    <a:ext uri="{9D8B030D-6E8A-4147-A177-3AD203B41FA5}">
                      <a16:colId xmlns:a16="http://schemas.microsoft.com/office/drawing/2014/main" val="20002"/>
                    </a:ext>
                  </a:extLst>
                </a:gridCol>
                <a:gridCol w="1313000">
                  <a:extLst>
                    <a:ext uri="{9D8B030D-6E8A-4147-A177-3AD203B41FA5}">
                      <a16:colId xmlns:a16="http://schemas.microsoft.com/office/drawing/2014/main" val="20003"/>
                    </a:ext>
                  </a:extLst>
                </a:gridCol>
                <a:gridCol w="1955300">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Model</a:t>
                      </a:r>
                      <a:endParaRPr b="1">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Cross-Validation Balanced Accuracy</a:t>
                      </a:r>
                      <a:endParaRPr b="1">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Test Balanced Accuracy</a:t>
                      </a:r>
                      <a:endParaRPr b="1">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Macro F1-Score</a:t>
                      </a:r>
                      <a:endParaRPr b="1">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Decision</a:t>
                      </a:r>
                      <a:endParaRPr b="1">
                        <a:solidFill>
                          <a:schemeClr val="dk1"/>
                        </a:solidFill>
                        <a:latin typeface="Old Standard TT"/>
                        <a:ea typeface="Old Standard TT"/>
                        <a:cs typeface="Old Standard TT"/>
                        <a:sym typeface="Old Standard TT"/>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Baseline</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25.0%</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93%</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24%</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Heavily skewed towards the majority class</a:t>
                      </a:r>
                      <a:endParaRPr>
                        <a:solidFill>
                          <a:schemeClr val="dk1"/>
                        </a:solidFill>
                        <a:latin typeface="Old Standard TT"/>
                        <a:ea typeface="Old Standard TT"/>
                        <a:cs typeface="Old Standard TT"/>
                        <a:sym typeface="Old Standard TT"/>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Logistic Regression</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36.4%</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GB">
                          <a:solidFill>
                            <a:schemeClr val="dk1"/>
                          </a:solidFill>
                          <a:latin typeface="Old Standard TT"/>
                          <a:ea typeface="Old Standard TT"/>
                          <a:cs typeface="Old Standard TT"/>
                          <a:sym typeface="Old Standard TT"/>
                        </a:rPr>
                        <a:t>34.9%</a:t>
                      </a:r>
                      <a:endParaRPr>
                        <a:solidFill>
                          <a:schemeClr val="dk1"/>
                        </a:solidFill>
                        <a:latin typeface="Old Standard TT"/>
                        <a:ea typeface="Old Standard TT"/>
                        <a:cs typeface="Old Standard TT"/>
                        <a:sym typeface="Old Standard TT"/>
                      </a:endParaRPr>
                    </a:p>
                    <a:p>
                      <a:pPr marL="0" lvl="0" indent="0" algn="l" rtl="0">
                        <a:spcBef>
                          <a:spcPts val="0"/>
                        </a:spcBef>
                        <a:spcAft>
                          <a:spcPts val="0"/>
                        </a:spcAft>
                        <a:buNone/>
                      </a:pP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21%</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Has the best, though weak, balanced accuracy</a:t>
                      </a:r>
                      <a:endParaRPr>
                        <a:solidFill>
                          <a:schemeClr val="dk1"/>
                        </a:solidFill>
                        <a:latin typeface="Old Standard TT"/>
                        <a:ea typeface="Old Standard TT"/>
                        <a:cs typeface="Old Standard TT"/>
                        <a:sym typeface="Old Standard TT"/>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Random Forest</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35.0%</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36.3%</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23%</a:t>
                      </a:r>
                      <a:endParaRPr>
                        <a:solidFill>
                          <a:schemeClr val="dk1"/>
                        </a:solidFill>
                        <a:latin typeface="Old Standard TT"/>
                        <a:ea typeface="Old Standard TT"/>
                        <a:cs typeface="Old Standard TT"/>
                        <a:sym typeface="Old Standard TT"/>
                      </a:endParaRPr>
                    </a:p>
                  </a:txBody>
                  <a:tcPr marL="91425" marR="91425" marT="91425" marB="91425"/>
                </a:tc>
                <a:tc>
                  <a:txBody>
                    <a:bodyPr/>
                    <a:lstStyle/>
                    <a:p>
                      <a:pPr marL="0" lvl="0" indent="0" algn="l" rtl="0">
                        <a:spcBef>
                          <a:spcPts val="0"/>
                        </a:spcBef>
                        <a:spcAft>
                          <a:spcPts val="0"/>
                        </a:spcAft>
                        <a:buNone/>
                      </a:pPr>
                      <a:r>
                        <a:rPr lang="en-GB">
                          <a:solidFill>
                            <a:schemeClr val="dk1"/>
                          </a:solidFill>
                          <a:latin typeface="Old Standard TT"/>
                          <a:ea typeface="Old Standard TT"/>
                          <a:cs typeface="Old Standard TT"/>
                          <a:sym typeface="Old Standard TT"/>
                        </a:rPr>
                        <a:t>Slightly worse performance</a:t>
                      </a:r>
                      <a:endParaRPr>
                        <a:solidFill>
                          <a:schemeClr val="dk1"/>
                        </a:solidFill>
                        <a:latin typeface="Old Standard TT"/>
                        <a:ea typeface="Old Standard TT"/>
                        <a:cs typeface="Old Standard TT"/>
                        <a:sym typeface="Old Standard TT"/>
                      </a:endParaRPr>
                    </a:p>
                  </a:txBody>
                  <a:tcPr marL="91425" marR="91425" marT="91425" marB="91425"/>
                </a:tc>
                <a:extLst>
                  <a:ext uri="{0D108BD9-81ED-4DB2-BD59-A6C34878D82A}">
                    <a16:rowId xmlns:a16="http://schemas.microsoft.com/office/drawing/2014/main" val="10003"/>
                  </a:ext>
                </a:extLst>
              </a:tr>
            </a:tbl>
          </a:graphicData>
        </a:graphic>
      </p:graphicFrame>
      <p:sp>
        <p:nvSpPr>
          <p:cNvPr id="101" name="Google Shape;101;p19"/>
          <p:cNvSpPr txBox="1"/>
          <p:nvPr/>
        </p:nvSpPr>
        <p:spPr>
          <a:xfrm>
            <a:off x="621950" y="4096050"/>
            <a:ext cx="77718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dk1"/>
                </a:solidFill>
                <a:latin typeface="Old Standard TT"/>
                <a:ea typeface="Old Standard TT"/>
                <a:cs typeface="Old Standard TT"/>
                <a:sym typeface="Old Standard TT"/>
              </a:rPr>
              <a:t>Verdict:</a:t>
            </a:r>
            <a:r>
              <a:rPr lang="en-GB">
                <a:solidFill>
                  <a:schemeClr val="dk1"/>
                </a:solidFill>
                <a:latin typeface="Old Standard TT"/>
                <a:ea typeface="Old Standard TT"/>
                <a:cs typeface="Old Standard TT"/>
                <a:sym typeface="Old Standard TT"/>
              </a:rPr>
              <a:t> Logistic regression was selected for diagnosis because it was the model with the highest cross-validated balanced accuracy. However, its lower macro F1 suggests that it cannot feasibly be deployed.</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BEST-MODEL DIAGNOSIS</a:t>
            </a:r>
            <a:endParaRPr/>
          </a:p>
        </p:txBody>
      </p:sp>
      <p:sp>
        <p:nvSpPr>
          <p:cNvPr id="107" name="Google Shape;107;p20"/>
          <p:cNvSpPr txBox="1"/>
          <p:nvPr/>
        </p:nvSpPr>
        <p:spPr>
          <a:xfrm>
            <a:off x="479175" y="1455700"/>
            <a:ext cx="1662000" cy="92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latin typeface="Old Standard TT"/>
                <a:ea typeface="Old Standard TT"/>
                <a:cs typeface="Old Standard TT"/>
                <a:sym typeface="Old Standard TT"/>
              </a:rPr>
              <a:t>Minority-class recall improves</a:t>
            </a:r>
            <a:endParaRPr sz="1800">
              <a:solidFill>
                <a:schemeClr val="dk1"/>
              </a:solidFill>
              <a:latin typeface="Old Standard TT"/>
              <a:ea typeface="Old Standard TT"/>
              <a:cs typeface="Old Standard TT"/>
              <a:sym typeface="Old Standard TT"/>
            </a:endParaRPr>
          </a:p>
        </p:txBody>
      </p:sp>
      <p:sp>
        <p:nvSpPr>
          <p:cNvPr id="108" name="Google Shape;108;p20"/>
          <p:cNvSpPr txBox="1"/>
          <p:nvPr/>
        </p:nvSpPr>
        <p:spPr>
          <a:xfrm>
            <a:off x="6875400" y="1411025"/>
            <a:ext cx="2268600" cy="151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solidFill>
                  <a:schemeClr val="dk1"/>
                </a:solidFill>
                <a:latin typeface="Old Standard TT"/>
                <a:ea typeface="Old Standard TT"/>
                <a:cs typeface="Old Standard TT"/>
                <a:sym typeface="Old Standard TT"/>
              </a:rPr>
              <a:t>Tradeoff:</a:t>
            </a:r>
            <a:r>
              <a:rPr lang="en-GB" sz="1800">
                <a:solidFill>
                  <a:schemeClr val="dk1"/>
                </a:solidFill>
                <a:latin typeface="Old Standard TT"/>
                <a:ea typeface="Old Standard TT"/>
                <a:cs typeface="Old Standard TT"/>
                <a:sym typeface="Old Standard TT"/>
              </a:rPr>
              <a:t> More false positives; overall accuracy drops.</a:t>
            </a:r>
            <a:endParaRPr sz="1800">
              <a:solidFill>
                <a:schemeClr val="dk1"/>
              </a:solidFill>
              <a:latin typeface="Old Standard TT"/>
              <a:ea typeface="Old Standard TT"/>
              <a:cs typeface="Old Standard TT"/>
              <a:sym typeface="Old Standard TT"/>
            </a:endParaRPr>
          </a:p>
        </p:txBody>
      </p:sp>
      <p:sp>
        <p:nvSpPr>
          <p:cNvPr id="109" name="Google Shape;109;p20"/>
          <p:cNvSpPr txBox="1"/>
          <p:nvPr/>
        </p:nvSpPr>
        <p:spPr>
          <a:xfrm>
            <a:off x="0" y="3870875"/>
            <a:ext cx="2438400" cy="127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solidFill>
                  <a:schemeClr val="dk1"/>
                </a:solidFill>
                <a:latin typeface="Old Standard TT"/>
                <a:ea typeface="Old Standard TT"/>
                <a:cs typeface="Old Standard TT"/>
                <a:sym typeface="Old Standard TT"/>
              </a:rPr>
              <a:t>Takeaway: </a:t>
            </a:r>
            <a:r>
              <a:rPr lang="en-GB" sz="1800">
                <a:solidFill>
                  <a:schemeClr val="dk1"/>
                </a:solidFill>
                <a:latin typeface="Old Standard TT"/>
                <a:ea typeface="Old Standard TT"/>
                <a:cs typeface="Old Standard TT"/>
                <a:sym typeface="Old Standard TT"/>
              </a:rPr>
              <a:t>Despite the loss in bias, the above predictions are too noisy to be useful.</a:t>
            </a:r>
            <a:endParaRPr sz="1800">
              <a:solidFill>
                <a:schemeClr val="dk1"/>
              </a:solidFill>
              <a:latin typeface="Old Standard TT"/>
              <a:ea typeface="Old Standard TT"/>
              <a:cs typeface="Old Standard TT"/>
              <a:sym typeface="Old Standard TT"/>
            </a:endParaRPr>
          </a:p>
        </p:txBody>
      </p:sp>
      <p:pic>
        <p:nvPicPr>
          <p:cNvPr id="110" name="Google Shape;110;p20" title="Screenshot 2026-08-05 140221.png"/>
          <p:cNvPicPr preferRelativeResize="0"/>
          <p:nvPr/>
        </p:nvPicPr>
        <p:blipFill>
          <a:blip r:embed="rId3">
            <a:alphaModFix/>
          </a:blip>
          <a:stretch>
            <a:fillRect/>
          </a:stretch>
        </p:blipFill>
        <p:spPr>
          <a:xfrm>
            <a:off x="2141175" y="1017725"/>
            <a:ext cx="4283324" cy="3402775"/>
          </a:xfrm>
          <a:prstGeom prst="rect">
            <a:avLst/>
          </a:prstGeom>
          <a:noFill/>
          <a:ln>
            <a:noFill/>
          </a:ln>
        </p:spPr>
      </p:pic>
      <p:cxnSp>
        <p:nvCxnSpPr>
          <p:cNvPr id="111" name="Google Shape;111;p20"/>
          <p:cNvCxnSpPr/>
          <p:nvPr/>
        </p:nvCxnSpPr>
        <p:spPr>
          <a:xfrm rot="10800000" flipH="1">
            <a:off x="2070000" y="1602000"/>
            <a:ext cx="1512000" cy="216000"/>
          </a:xfrm>
          <a:prstGeom prst="straightConnector1">
            <a:avLst/>
          </a:prstGeom>
          <a:noFill/>
          <a:ln w="9525" cap="flat" cmpd="sng">
            <a:solidFill>
              <a:schemeClr val="dk2"/>
            </a:solidFill>
            <a:prstDash val="solid"/>
            <a:round/>
            <a:headEnd type="none" w="med" len="med"/>
            <a:tailEnd type="triangle" w="med" len="med"/>
          </a:ln>
        </p:spPr>
      </p:cxnSp>
      <p:cxnSp>
        <p:nvCxnSpPr>
          <p:cNvPr id="112" name="Google Shape;112;p20"/>
          <p:cNvCxnSpPr>
            <a:stCxn id="107" idx="3"/>
          </p:cNvCxnSpPr>
          <p:nvPr/>
        </p:nvCxnSpPr>
        <p:spPr>
          <a:xfrm>
            <a:off x="2141175" y="1916650"/>
            <a:ext cx="1994400" cy="157800"/>
          </a:xfrm>
          <a:prstGeom prst="straightConnector1">
            <a:avLst/>
          </a:prstGeom>
          <a:noFill/>
          <a:ln w="9525" cap="flat" cmpd="sng">
            <a:solidFill>
              <a:schemeClr val="dk2"/>
            </a:solidFill>
            <a:prstDash val="solid"/>
            <a:round/>
            <a:headEnd type="none" w="med" len="med"/>
            <a:tailEnd type="triangle" w="med" len="med"/>
          </a:ln>
        </p:spPr>
      </p:cxnSp>
      <p:cxnSp>
        <p:nvCxnSpPr>
          <p:cNvPr id="113" name="Google Shape;113;p20"/>
          <p:cNvCxnSpPr/>
          <p:nvPr/>
        </p:nvCxnSpPr>
        <p:spPr>
          <a:xfrm>
            <a:off x="2097000" y="2142000"/>
            <a:ext cx="2592000" cy="607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19" name="Google Shape;119;p2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a:t>The question revisited: </a:t>
            </a:r>
            <a:r>
              <a:rPr lang="en-GB"/>
              <a:t>Is health a useful predictor of user status?</a:t>
            </a:r>
            <a:endParaRPr/>
          </a:p>
          <a:p>
            <a:pPr marL="0" lvl="0" indent="0" algn="l" rtl="0">
              <a:spcBef>
                <a:spcPts val="1200"/>
              </a:spcBef>
              <a:spcAft>
                <a:spcPts val="1200"/>
              </a:spcAft>
              <a:buNone/>
            </a:pPr>
            <a:r>
              <a:rPr lang="en-GB" b="1"/>
              <a:t>Answer:</a:t>
            </a:r>
            <a:r>
              <a:rPr lang="en-GB"/>
              <a:t> No. Because of the sheer dominance of the single status class across every health feature (body type, diet, drinking, drug use, and smoking), it is impossible to be sure that health alone sufficiently distinguishes relationship status. This, however, does not prove that lifestyle and relationship status are unrelated. It shows that these particular self-reported attributes, by themselves, provide too little signal for reliable classification.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NEXT STEPS</a:t>
            </a:r>
            <a:endParaRPr/>
          </a:p>
        </p:txBody>
      </p:sp>
      <p:sp>
        <p:nvSpPr>
          <p:cNvPr id="125" name="Google Shape;125;p22"/>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dirty="0"/>
              <a:t>Strengthen data preparation</a:t>
            </a:r>
            <a:endParaRPr dirty="0"/>
          </a:p>
          <a:p>
            <a:pPr marL="914400" lvl="1" indent="-317500" algn="l" rtl="0">
              <a:spcBef>
                <a:spcPts val="0"/>
              </a:spcBef>
              <a:spcAft>
                <a:spcPts val="0"/>
              </a:spcAft>
              <a:buSzPts val="1400"/>
              <a:buChar char="○"/>
            </a:pPr>
            <a:r>
              <a:rPr lang="en-GB" dirty="0"/>
              <a:t>Measure whether missing values contain predictive information.</a:t>
            </a:r>
            <a:endParaRPr dirty="0"/>
          </a:p>
          <a:p>
            <a:pPr marL="914400" lvl="1" indent="-317500" algn="l" rtl="0">
              <a:spcBef>
                <a:spcPts val="0"/>
              </a:spcBef>
              <a:spcAft>
                <a:spcPts val="0"/>
              </a:spcAft>
              <a:buSzPts val="1400"/>
              <a:buChar char="○"/>
            </a:pPr>
            <a:r>
              <a:rPr lang="en-GB" dirty="0" err="1"/>
              <a:t>Packag</a:t>
            </a:r>
            <a:r>
              <a:rPr lang="en-GB" dirty="0"/>
              <a:t> preprocessing and modelling into one reproducible pipeline.</a:t>
            </a:r>
            <a:endParaRPr dirty="0"/>
          </a:p>
          <a:p>
            <a:pPr marL="457200" lvl="0" indent="-342900" algn="l" rtl="0">
              <a:spcBef>
                <a:spcPts val="0"/>
              </a:spcBef>
              <a:spcAft>
                <a:spcPts val="0"/>
              </a:spcAft>
              <a:buSzPts val="1800"/>
              <a:buChar char="●"/>
            </a:pPr>
            <a:r>
              <a:rPr lang="en-GB" dirty="0"/>
              <a:t>Address class imbalance</a:t>
            </a:r>
            <a:endParaRPr dirty="0"/>
          </a:p>
          <a:p>
            <a:pPr marL="914400" lvl="1" indent="-317500" algn="l" rtl="0">
              <a:spcBef>
                <a:spcPts val="0"/>
              </a:spcBef>
              <a:spcAft>
                <a:spcPts val="0"/>
              </a:spcAft>
              <a:buSzPts val="1400"/>
              <a:buChar char="○"/>
            </a:pPr>
            <a:r>
              <a:rPr lang="en-GB" dirty="0"/>
              <a:t>Compare class weighting with over- and under-sampling.</a:t>
            </a:r>
            <a:endParaRPr dirty="0"/>
          </a:p>
          <a:p>
            <a:pPr marL="914400" lvl="1" indent="-317500" algn="l" rtl="0">
              <a:spcBef>
                <a:spcPts val="0"/>
              </a:spcBef>
              <a:spcAft>
                <a:spcPts val="0"/>
              </a:spcAft>
              <a:buSzPts val="1400"/>
              <a:buChar char="○"/>
            </a:pPr>
            <a:r>
              <a:rPr lang="en-GB" dirty="0"/>
              <a:t>Apply resampling only within training folds to prevent leakage.</a:t>
            </a:r>
            <a:endParaRPr dirty="0"/>
          </a:p>
          <a:p>
            <a:pPr marL="914400" lvl="1" indent="-317500" algn="l" rtl="0">
              <a:spcBef>
                <a:spcPts val="0"/>
              </a:spcBef>
              <a:spcAft>
                <a:spcPts val="0"/>
              </a:spcAft>
              <a:buSzPts val="1400"/>
              <a:buChar char="○"/>
            </a:pPr>
            <a:r>
              <a:rPr lang="en-GB" dirty="0"/>
              <a:t>Reassess whether the rarest classes contain enough observations for reliable modelling.</a:t>
            </a:r>
            <a:endParaRPr dirty="0"/>
          </a:p>
          <a:p>
            <a:pPr marL="457200" lvl="0" indent="-342900" algn="l" rtl="0">
              <a:spcBef>
                <a:spcPts val="0"/>
              </a:spcBef>
              <a:spcAft>
                <a:spcPts val="0"/>
              </a:spcAft>
              <a:buSzPts val="1800"/>
              <a:buChar char="●"/>
            </a:pPr>
            <a:r>
              <a:rPr lang="en-GB" dirty="0"/>
              <a:t>Expand the predictive signal</a:t>
            </a:r>
            <a:endParaRPr dirty="0"/>
          </a:p>
          <a:p>
            <a:pPr marL="914400" lvl="1" indent="-317500" algn="l" rtl="0">
              <a:spcBef>
                <a:spcPts val="0"/>
              </a:spcBef>
              <a:spcAft>
                <a:spcPts val="0"/>
              </a:spcAft>
              <a:buSzPts val="1400"/>
              <a:buChar char="○"/>
            </a:pPr>
            <a:r>
              <a:rPr lang="en-GB" dirty="0"/>
              <a:t>Add age, education, location, orientation, and offspring preferences.</a:t>
            </a:r>
            <a:endParaRPr dirty="0"/>
          </a:p>
          <a:p>
            <a:pPr marL="914400" lvl="1" indent="-317500" algn="l" rtl="0">
              <a:spcBef>
                <a:spcPts val="0"/>
              </a:spcBef>
              <a:spcAft>
                <a:spcPts val="0"/>
              </a:spcAft>
              <a:buSzPts val="1400"/>
              <a:buChar char="○"/>
            </a:pPr>
            <a:r>
              <a:rPr lang="en-GB" dirty="0"/>
              <a:t>Use natural language processing on the offspring to separate ‘has children’ from ‘wants children’, as well as on the essay questions.</a:t>
            </a:r>
            <a:endParaRPr dirty="0"/>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676</Words>
  <Application>Microsoft Office PowerPoint</Application>
  <PresentationFormat>On-screen Show (16:9)</PresentationFormat>
  <Paragraphs>61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Old Standard TT</vt:lpstr>
      <vt:lpstr>Arial</vt:lpstr>
      <vt:lpstr>Paperback</vt:lpstr>
      <vt:lpstr>DATE-A-SCIENTIST</vt:lpstr>
      <vt:lpstr>PROBLEM STATEMENT</vt:lpstr>
      <vt:lpstr>CHOSEN ATTRIBUTES</vt:lpstr>
      <vt:lpstr>EXPLORATORY DATA ANALYSIS</vt:lpstr>
      <vt:lpstr>PREPROCESSING</vt:lpstr>
      <vt:lpstr>MAJORITY-CLASS (OR BASELINE) CLASSIFIER</vt:lpstr>
      <vt:lpstr>MODEL RESULTS</vt:lpstr>
      <vt:lpstr>BEST-MODEL DIAGNOSIS</vt:lpstr>
      <vt:lpstr>CONCLUSION</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Tariku</cp:lastModifiedBy>
  <cp:revision>1</cp:revision>
  <dcterms:modified xsi:type="dcterms:W3CDTF">2026-08-05T21:53:44Z</dcterms:modified>
</cp:coreProperties>
</file>